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0e6e89be844c69" /><Relationship Type="http://schemas.openxmlformats.org/officeDocument/2006/relationships/extended-properties" Target="/docProps/app.xml" Id="R70875b3983a54b27" /><Relationship Type="http://schemas.openxmlformats.org/officeDocument/2006/relationships/officeDocument" Target="/ppt/presentation.xml" Id="R56c10279eb1046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1cc8e520034e56"/>
  </p:sldMasterIdLst>
  <p:notesMasterIdLst>
    <p:notesMasterId xmlns:r="http://schemas.openxmlformats.org/officeDocument/2006/relationships" r:id="Rbf3dfe61d07b4b7c"/>
  </p:notesMasterIdLst>
  <p:sldIdLst>
    <p:sldId xmlns:r="http://schemas.openxmlformats.org/officeDocument/2006/relationships" id="256" r:id="R771182a77d1e423f"/>
    <p:sldId xmlns:r="http://schemas.openxmlformats.org/officeDocument/2006/relationships" id="257" r:id="R1232f6e42b42491f"/>
    <p:sldId xmlns:r="http://schemas.openxmlformats.org/officeDocument/2006/relationships" id="258" r:id="R903112dc852e4c5c"/>
    <p:sldId xmlns:r="http://schemas.openxmlformats.org/officeDocument/2006/relationships" id="259" r:id="Rde36944d09a946ef"/>
    <p:sldId xmlns:r="http://schemas.openxmlformats.org/officeDocument/2006/relationships" id="260" r:id="R1f9173fd27654080"/>
    <p:sldId xmlns:r="http://schemas.openxmlformats.org/officeDocument/2006/relationships" id="261" r:id="R2a8994b437f34e71"/>
    <p:sldId xmlns:r="http://schemas.openxmlformats.org/officeDocument/2006/relationships" id="262" r:id="R9dde0d7e0efb4afd"/>
    <p:sldId xmlns:r="http://schemas.openxmlformats.org/officeDocument/2006/relationships" id="263" r:id="R429127f66e81455c"/>
    <p:sldId xmlns:r="http://schemas.openxmlformats.org/officeDocument/2006/relationships" id="264" r:id="Ref25a42b4ac74636"/>
    <p:sldId xmlns:r="http://schemas.openxmlformats.org/officeDocument/2006/relationships" id="265" r:id="Rfeab570ced934b1d"/>
    <p:sldId xmlns:r="http://schemas.openxmlformats.org/officeDocument/2006/relationships" id="266" r:id="R60291f8df629482c"/>
    <p:sldId xmlns:r="http://schemas.openxmlformats.org/officeDocument/2006/relationships" id="267" r:id="Rdd14950c58c54e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f1c18b1c6b4668" /><Relationship Type="http://schemas.openxmlformats.org/officeDocument/2006/relationships/slideMaster" Target="/ppt/slideMasters/slideMaster1.xml" Id="Rf21cc8e520034e56" /><Relationship Type="http://schemas.openxmlformats.org/officeDocument/2006/relationships/notesMaster" Target="/ppt/notesMasters/notesMaster1.xml" Id="Rbf3dfe61d07b4b7c" /><Relationship Type="http://schemas.openxmlformats.org/officeDocument/2006/relationships/presProps" Target="/ppt/presProps.xml" Id="R326e8c39c0704877" /><Relationship Type="http://schemas.openxmlformats.org/officeDocument/2006/relationships/tableStyles" Target="/ppt/tableStyles.xml" Id="R48d0fdceeb0e4b32" /><Relationship Type="http://schemas.openxmlformats.org/officeDocument/2006/relationships/slide" Target="/ppt/slides/slide1.xml" Id="R771182a77d1e423f" /><Relationship Type="http://schemas.openxmlformats.org/officeDocument/2006/relationships/slide" Target="/ppt/slides/slide2.xml" Id="R1232f6e42b42491f" /><Relationship Type="http://schemas.openxmlformats.org/officeDocument/2006/relationships/slide" Target="/ppt/slides/slide3.xml" Id="R903112dc852e4c5c" /><Relationship Type="http://schemas.openxmlformats.org/officeDocument/2006/relationships/slide" Target="/ppt/slides/slide4.xml" Id="Rde36944d09a946ef" /><Relationship Type="http://schemas.openxmlformats.org/officeDocument/2006/relationships/slide" Target="/ppt/slides/slide5.xml" Id="R1f9173fd27654080" /><Relationship Type="http://schemas.openxmlformats.org/officeDocument/2006/relationships/slide" Target="/ppt/slides/slide6.xml" Id="R2a8994b437f34e71" /><Relationship Type="http://schemas.openxmlformats.org/officeDocument/2006/relationships/slide" Target="/ppt/slides/slide7.xml" Id="R9dde0d7e0efb4afd" /><Relationship Type="http://schemas.openxmlformats.org/officeDocument/2006/relationships/slide" Target="/ppt/slides/slide8.xml" Id="R429127f66e81455c" /><Relationship Type="http://schemas.openxmlformats.org/officeDocument/2006/relationships/slide" Target="/ppt/slides/slide9.xml" Id="Ref25a42b4ac74636" /><Relationship Type="http://schemas.openxmlformats.org/officeDocument/2006/relationships/slide" Target="/ppt/slides/slide10.xml" Id="Rfeab570ced934b1d" /><Relationship Type="http://schemas.openxmlformats.org/officeDocument/2006/relationships/slide" Target="/ppt/slides/slide11.xml" Id="R60291f8df629482c" /><Relationship Type="http://schemas.openxmlformats.org/officeDocument/2006/relationships/slide" Target="/ppt/slides/slide12.xml" Id="Rdd14950c58c5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6b14692da1f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e654ae8bfd4c9d" /><Relationship Type="http://schemas.openxmlformats.org/officeDocument/2006/relationships/notesMaster" Target="/ppt/notesMasters/notesMaster1.xml" Id="R844b561fb7a2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e4ab292845d442e" /><Relationship Type="http://schemas.openxmlformats.org/officeDocument/2006/relationships/notesMaster" Target="/ppt/notesMasters/notesMaster1.xml" Id="R535589fcb4784f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dec5a8d4404375" /><Relationship Type="http://schemas.openxmlformats.org/officeDocument/2006/relationships/notesMaster" Target="/ppt/notesMasters/notesMaster1.xml" Id="Ra7e68cf0a206474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1c1bf374c4093" /><Relationship Type="http://schemas.openxmlformats.org/officeDocument/2006/relationships/notesMaster" Target="/ppt/notesMasters/notesMaster1.xml" Id="Rbbcf9bf9e2f140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b26cec44864539" /><Relationship Type="http://schemas.openxmlformats.org/officeDocument/2006/relationships/notesMaster" Target="/ppt/notesMasters/notesMaster1.xml" Id="R22485734e6054bc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cb62f3306e346cc" /><Relationship Type="http://schemas.openxmlformats.org/officeDocument/2006/relationships/notesMaster" Target="/ppt/notesMasters/notesMaster1.xml" Id="Raa1b84f697404d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b36a9fcf9c240cf" /><Relationship Type="http://schemas.openxmlformats.org/officeDocument/2006/relationships/notesMaster" Target="/ppt/notesMasters/notesMaster1.xml" Id="R78185a7725e04c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0e180f29244d3f" /><Relationship Type="http://schemas.openxmlformats.org/officeDocument/2006/relationships/notesMaster" Target="/ppt/notesMasters/notesMaster1.xml" Id="Rbf4d9a2fb30e40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b85260db14421c" /><Relationship Type="http://schemas.openxmlformats.org/officeDocument/2006/relationships/notesMaster" Target="/ppt/notesMasters/notesMaster1.xml" Id="R062294aaabea4f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f05c0873db4b10" /><Relationship Type="http://schemas.openxmlformats.org/officeDocument/2006/relationships/notesMaster" Target="/ppt/notesMasters/notesMaster1.xml" Id="R03596b4c110146a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98f9bda0f44568" /><Relationship Type="http://schemas.openxmlformats.org/officeDocument/2006/relationships/notesMaster" Target="/ppt/notesMasters/notesMaster1.xml" Id="R817ebddccaea429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96b67b2231f465e" /><Relationship Type="http://schemas.openxmlformats.org/officeDocument/2006/relationships/notesMaster" Target="/ppt/notesMasters/notesMaster1.xml" Id="R0aa45e6aac6642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Nomura, Key focus and themes, 31 Jul 2026 (user-provided PDF), pp. 3–4</a:t>
            </a:r>
          </a:p>
          <a:p xmlns:a="http://schemas.openxmlformats.org/drawingml/2006/main">
            <a:r>
              <a:t>- https://www.bot.or.th/en/statistics/exchange-rate.html</a:t>
            </a:r>
          </a:p>
          <a:p xmlns:a="http://schemas.openxmlformats.org/drawingml/2006/main">
            <a:r>
              <a:t>- https://tradingeconomics.com/thailand/currency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Nomura, Key focus and themes, 31 Jul 2026 (user-provided PDF), pp. 3–4</a:t>
            </a:r>
          </a:p>
          <a:p xmlns:a="http://schemas.openxmlformats.org/drawingml/2006/main">
            <a:r>
              <a:t>- https://tradingeconomics.com/thailand/currency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Nomura, Key focus and themes, 31 Jul 2026 (user-provided PDF)</a:t>
            </a:r>
          </a:p>
          <a:p xmlns:a="http://schemas.openxmlformats.org/drawingml/2006/main">
            <a:r>
              <a:t>- https://www.bot.or.th/content/dam/bot/documents/en/our-roles/monetary-policy/mpc-publication/monetary-policy-report/MPR_2026_Q2.pdf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- https://home.treasury.gov/system/files/206/July-2026-FX-Report.pdf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https://app.bot.or.th/BTWS_STAT/statistics/BOTWEBSTAT.aspx?language=ENG&amp;reportID=1028</a:t>
            </a:r>
          </a:p>
          <a:p xmlns:a="http://schemas.openxmlformats.org/drawingml/2006/main">
            <a:r>
              <a:t>- https://www.bot.or.th/en/news-and-media/news/news-20260731.html</a:t>
            </a:r>
          </a:p>
          <a:p xmlns:a="http://schemas.openxmlformats.org/drawingml/2006/main">
            <a:r>
              <a:t>- https://www.bot.or.th/content/dam/bot/documents/en/our-roles/monetary-policy/mpc-publication/monetary-policy-report/MPR_2026_Q2.pdf</a:t>
            </a:r>
          </a:p>
          <a:p xmlns:a="http://schemas.openxmlformats.org/drawingml/2006/main">
            <a:r>
              <a:t>- Nomura, Key focus and themes, 31 Jul 2026 (user-provided PDF), p.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https://app.bot.or.th/BTWS_STAT/statistics/ReportPage.aspx?language=eng&amp;reportID=875</a:t>
            </a:r>
          </a:p>
          <a:p xmlns:a="http://schemas.openxmlformats.org/drawingml/2006/main">
            <a:r>
              <a:t>- https://www.bot.or.th/content/dam/bot/documents/en/our-roles/monetary-policy/mpc-publication/monetary-policy-report/MPR_2026_Q2.pdf</a:t>
            </a:r>
          </a:p>
          <a:p xmlns:a="http://schemas.openxmlformats.org/drawingml/2006/main">
            <a:r>
              <a:t>- Nomura, Key focus and themes, 31 Jul 2026 (user-provided PDF), p.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- Nomura, Key focus and themes, 31 Jul 2026 (user-provided PDF), p. 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https://app.bot.or.th/BTWS_STAT/statistics/BOTWEBSTAT.aspx?language=ENG&amp;reportID=94</a:t>
            </a:r>
          </a:p>
          <a:p xmlns:a="http://schemas.openxmlformats.org/drawingml/2006/main">
            <a:r>
              <a:t>- Nomura, Key focus and themes, 31 Jul 2026 (user-provided PDF), p. 3</a:t>
            </a:r>
          </a:p>
          <a:p xmlns:a="http://schemas.openxmlformats.org/drawingml/2006/main">
            <a:r>
              <a:t>- https://home.treasury.gov/system/files/206/July-2026-FX-Report.pdf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https://www.federalreserve.gov/newsevents/pressreleases/monetary20260729a.htm</a:t>
            </a:r>
          </a:p>
          <a:p xmlns:a="http://schemas.openxmlformats.org/drawingml/2006/main">
            <a:r>
              <a:t>- https://www.cmegroup.com/markets/interest-rates/cme-fedwatch-tool.html</a:t>
            </a:r>
          </a:p>
          <a:p xmlns:a="http://schemas.openxmlformats.org/drawingml/2006/main">
            <a:r>
              <a:t>- https://www.reuters.com/world/asia-pacific/yen-dollar-drift-iran-deal-concerns-payroll-jitters-2026-08-06/</a:t>
            </a:r>
          </a:p>
          <a:p xmlns:a="http://schemas.openxmlformats.org/drawingml/2006/main">
            <a:r>
              <a:t>- https://www.bot.or.th/en/statistics/exchange-rate.html</a:t>
            </a:r>
          </a:p>
          <a:p xmlns:a="http://schemas.openxmlformats.org/drawingml/2006/main">
            <a:r>
              <a:t>- https://www.investing.com/indices/usdollar-historical-data</a:t>
            </a:r>
          </a:p>
          <a:p xmlns:a="http://schemas.openxmlformats.org/drawingml/2006/main">
            <a:r>
              <a:t>- https://tradingeconomics.com/thailand/currency</a:t>
            </a:r>
          </a:p>
          <a:p xmlns:a="http://schemas.openxmlformats.org/drawingml/2006/main">
            <a:r>
              <a:t>- https://www.bls.gov/schedule/news_release/empsit.htm</a:t>
            </a:r>
          </a:p>
          <a:p xmlns:a="http://schemas.openxmlformats.org/drawingml/2006/main">
            <a:r>
              <a:t>- https://www.bls.gov/schedule/news_release/cpi.htm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Nomura, Key focus and themes, 31 Jul 2026 (user-provided PDF), pp. 3–4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- https://home.treasury.gov/system/files/206/July-2026-FX-Report.pdf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Nomura, Key focus and themes, 31 Jul 2026 (user-provided PDF)</a:t>
            </a:r>
          </a:p>
          <a:p xmlns:a="http://schemas.openxmlformats.org/drawingml/2006/main">
            <a:r>
              <a:t>- https://www.bot.or.th/content/dam/bot/documents/en/our-roles/monetary-policy/mpc-publication/monetary-policy-report/MPR_2026_Q2.pdf</a:t>
            </a:r>
          </a:p>
          <a:p xmlns:a="http://schemas.openxmlformats.org/drawingml/2006/main">
            <a:r>
              <a:t>- https://www.federalreserve.gov/newsevents/pressreleases/monetary20260729a.htm</a:t>
            </a:r>
          </a:p>
          <a:p xmlns:a="http://schemas.openxmlformats.org/drawingml/2006/main">
            <a:r>
              <a:t>- https://www.reuters.com/world/asia-pacific/yen-dollar-drift-iran-deal-concerns-payroll-jitters-2026-08-06/</a:t>
            </a:r>
          </a:p>
          <a:p xmlns:a="http://schemas.openxmlformats.org/drawingml/2006/main">
            <a:r>
              <a:t>- https://www.krungsri.com/getmedia/6479baf9-62fb-4e6a-a2ab-e84657eb228c/thb-thermometer-august2026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https://www.bls.gov/schedule/news_release/empsit.htm</a:t>
            </a:r>
          </a:p>
          <a:p xmlns:a="http://schemas.openxmlformats.org/drawingml/2006/main">
            <a:r>
              <a:t>- https://www.bls.gov/schedule/news_release/cpi.htm</a:t>
            </a:r>
          </a:p>
          <a:p xmlns:a="http://schemas.openxmlformats.org/drawingml/2006/main">
            <a:r>
              <a:t>- https://www.bot.or.th/en/our-roles/monetary-policy/mpc-meeting.html</a:t>
            </a:r>
          </a:p>
          <a:p xmlns:a="http://schemas.openxmlformats.org/drawingml/2006/main">
            <a:r>
              <a:t>- https://www.kansascityfed.org/research/jackson-hole-economic-symposium/</a:t>
            </a:r>
          </a:p>
          <a:p xmlns:a="http://schemas.openxmlformats.org/drawingml/2006/main">
            <a:r>
              <a:t>- https://www.federalreserve.gov/monetarypolicy/fomccalendars.htm</a:t>
            </a:r>
          </a:p>
          <a:p xmlns:a="http://schemas.openxmlformats.org/drawingml/2006/main">
            <a:r>
              <a:t>- https://www.federalreserve.gov/newsevents/pressreleases/monetary20260729a.htm</a:t>
            </a:r>
          </a:p>
          <a:p xmlns:a="http://schemas.openxmlformats.org/drawingml/2006/main">
            <a:r>
              <a:t>- https://www.bot.or.th/content/dam/bot/documents/en/our-roles/monetary-policy/mpc-publication/monetary-policy-report/MPR_2026_Q2.pdf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cbf4a384f40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a0f74d6c6444c" /><Relationship Type="http://schemas.openxmlformats.org/officeDocument/2006/relationships/slideLayout" Target="/ppt/slideLayouts/slideLayout1.xml" Id="Ra650fd4281fb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50fd4281fb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2ffb78c894ccd" /><Relationship Type="http://schemas.openxmlformats.org/officeDocument/2006/relationships/chart" Target="/ppt/slides/charts/chart1.xml" Id="Reaa19bc027194d0b" /><Relationship Type="http://schemas.openxmlformats.org/officeDocument/2006/relationships/notesSlide" Target="/ppt/notesSlides/notesSlide1.xml" Id="R54def522ff50435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11ab804c040d7" /><Relationship Type="http://schemas.openxmlformats.org/officeDocument/2006/relationships/notesSlide" Target="/ppt/notesSlides/notesSlide2.xml" Id="R82a7c4edf3ae42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62d7f8831444c" /><Relationship Type="http://schemas.openxmlformats.org/officeDocument/2006/relationships/notesSlide" Target="/ppt/notesSlides/notesSlide3.xml" Id="Rc1fe27ff854d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efa5d8f064e76" /><Relationship Type="http://schemas.openxmlformats.org/officeDocument/2006/relationships/chart" Target="/ppt/slides/charts/chart2.xml" Id="R7445c555f3db4ffd" /><Relationship Type="http://schemas.openxmlformats.org/officeDocument/2006/relationships/notesSlide" Target="/ppt/notesSlides/notesSlide4.xml" Id="R0fca7fc7285c47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6d61658d2f4d91" /><Relationship Type="http://schemas.openxmlformats.org/officeDocument/2006/relationships/chart" Target="/ppt/slides/charts/chart3.xml" Id="Rb2b8a6fcdad74868" /><Relationship Type="http://schemas.openxmlformats.org/officeDocument/2006/relationships/notesSlide" Target="/ppt/notesSlides/notesSlide5.xml" Id="R4aac8e50dd5c4a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492c08f70a4c14" /><Relationship Type="http://schemas.openxmlformats.org/officeDocument/2006/relationships/chart" Target="/ppt/slides/charts/chart4.xml" Id="Rdb3e2e2baf9742ba" /><Relationship Type="http://schemas.openxmlformats.org/officeDocument/2006/relationships/notesSlide" Target="/ppt/notesSlides/notesSlide6.xml" Id="Rc0148dd7aadd4a7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1f45b9d5842d2" /><Relationship Type="http://schemas.openxmlformats.org/officeDocument/2006/relationships/chart" Target="/ppt/slides/charts/chart5.xml" Id="R73b14b1bb2754286" /><Relationship Type="http://schemas.openxmlformats.org/officeDocument/2006/relationships/notesSlide" Target="/ppt/notesSlides/notesSlide7.xml" Id="R08b7435f0ea349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f5fc7e8e6441f" /><Relationship Type="http://schemas.openxmlformats.org/officeDocument/2006/relationships/chart" Target="/ppt/slides/charts/chart6.xml" Id="Re23aba5d873c4942" /><Relationship Type="http://schemas.openxmlformats.org/officeDocument/2006/relationships/notesSlide" Target="/ppt/notesSlides/notesSlide8.xml" Id="R541a9e8da857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5ce819c4324f63" /><Relationship Type="http://schemas.openxmlformats.org/officeDocument/2006/relationships/chart" Target="/ppt/slides/charts/chart7.xml" Id="R7f53130d5b624586" /><Relationship Type="http://schemas.openxmlformats.org/officeDocument/2006/relationships/notesSlide" Target="/ppt/notesSlides/notesSlide9.xml" Id="R306d57bd479d4c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299c70f02418c" /><Relationship Type="http://schemas.openxmlformats.org/officeDocument/2006/relationships/notesSlide" Target="/ppt/notesSlides/notesSlide10.xml" Id="Rb3ea37cb588149c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50552dc26f4b53" /><Relationship Type="http://schemas.openxmlformats.org/officeDocument/2006/relationships/notesSlide" Target="/ppt/notesSlides/notesSlide11.xml" Id="Rc52b527624f846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0c6cf66084649" /><Relationship Type="http://schemas.openxmlformats.org/officeDocument/2006/relationships/notesSlide" Target="/ppt/notesSlides/notesSlide12.xml" Id="Re67c0ff067a84b7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USD/THB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30 Jul</c:v>
              </c:pt>
              <c:pt idx="1">
                <c:v>31 Jul</c:v>
              </c:pt>
              <c:pt idx="2">
                <c:v>3 Aug</c:v>
              </c:pt>
              <c:pt idx="3">
                <c:v>4 Aug</c:v>
              </c:pt>
              <c:pt idx="4">
                <c:v>5 Aug</c:v>
              </c:pt>
              <c:pt idx="5">
                <c:v>6 Aug</c:v>
              </c:pt>
            </c:strLit>
          </c:cat>
          <c:val>
            <c:numLit>
              <c:formatCode>General</c:formatCode>
              <c:ptCount val="6"/>
              <c:pt idx="0">
                <c:v>33.577</c:v>
              </c:pt>
              <c:pt idx="1">
                <c:v>33.415</c:v>
              </c:pt>
              <c:pt idx="2">
                <c:v>33.33</c:v>
              </c:pt>
              <c:pt idx="3">
                <c:v>33.416</c:v>
              </c:pt>
              <c:pt idx="4">
                <c:v>33.198</c:v>
              </c:pt>
              <c:pt idx="5">
                <c:v>33.064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3.7"/>
          <c:min val="32.9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Current account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3"/>
              <c:pt idx="0">
                <c:v>Q1A</c:v>
              </c:pt>
              <c:pt idx="1">
                <c:v>Q2A</c:v>
              </c:pt>
              <c:pt idx="2">
                <c:v>Q3F
Nomura</c:v>
              </c:pt>
            </c:strLit>
          </c:cat>
          <c:val>
            <c:numLit>
              <c:formatCode>General</c:formatCode>
              <c:ptCount val="3"/>
              <c:pt idx="0">
                <c:v>1.417</c:v>
              </c:pt>
              <c:pt idx="1">
                <c:v>-17.695</c:v>
              </c:pt>
              <c:pt idx="2">
                <c:v>1.1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5"/>
          <c:min val="-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Arrivals (mn)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7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Late-Jul
run-rate*</c:v>
              </c:pt>
            </c:strLit>
          </c:cat>
          <c:val>
            <c:numLit>
              <c:formatCode>General</c:formatCode>
              <c:ptCount val="7"/>
              <c:pt idx="0">
                <c:v>3.278</c:v>
              </c:pt>
              <c:pt idx="1">
                <c:v>3.264</c:v>
              </c:pt>
              <c:pt idx="2">
                <c:v>2.775</c:v>
              </c:pt>
              <c:pt idx="3">
                <c:v>2.369</c:v>
              </c:pt>
              <c:pt idx="4">
                <c:v>2.347</c:v>
              </c:pt>
              <c:pt idx="5">
                <c:v>1.842</c:v>
              </c:pt>
              <c:pt idx="6">
                <c:v>2.538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3.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SET equities</c:v>
          </c:tx>
          <c:spPr>
            <a:solidFill xmlns:a="http://schemas.openxmlformats.org/drawingml/2006/main">
              <a:srgbClr val="3D8DFF"/>
            </a:solidFill>
          </c:spPr>
          <c:invertIfNegative val="0"/>
          <c:cat>
            <c:strLit>
              <c:ptCount val="3"/>
              <c:pt idx="0">
                <c:v>2025</c:v>
              </c:pt>
              <c:pt idx="1">
                <c:v>7M26</c:v>
              </c:pt>
              <c:pt idx="2">
                <c:v>Jul-26</c:v>
              </c:pt>
            </c:strLit>
          </c:cat>
          <c:val>
            <c:numLit>
              <c:formatCode>General</c:formatCode>
              <c:ptCount val="3"/>
              <c:pt idx="0">
                <c:v>-107.06</c:v>
              </c:pt>
              <c:pt idx="1">
                <c:v>75.934</c:v>
              </c:pt>
              <c:pt idx="2">
                <c:v>48.8</c:v>
              </c:pt>
            </c:numLit>
          </c:val>
        </c:ser>
        <c:ser>
          <c:idx val="1"/>
          <c:order val="1"/>
          <c:tx>
            <c:v>Thai govt bonds</c:v>
          </c:tx>
          <c:spPr>
            <a:solidFill xmlns:a="http://schemas.openxmlformats.org/drawingml/2006/main">
              <a:srgbClr val="8B939E"/>
            </a:solidFill>
          </c:spPr>
          <c:invertIfNegative val="0"/>
          <c:cat>
            <c:strLit>
              <c:ptCount val="3"/>
              <c:pt idx="0">
                <c:v>2025</c:v>
              </c:pt>
              <c:pt idx="1">
                <c:v>7M26</c:v>
              </c:pt>
              <c:pt idx="2">
                <c:v>Jul-26</c:v>
              </c:pt>
            </c:strLit>
          </c:cat>
          <c:val>
            <c:numLit>
              <c:formatCode>General</c:formatCode>
              <c:ptCount val="3"/>
              <c:pt idx="0">
                <c:v>65.876</c:v>
              </c:pt>
              <c:pt idx="1">
                <c:v>20.955</c:v>
              </c:pt>
              <c:pt idx="2">
                <c:v>-11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-12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5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FX reserves (19 Jun=100)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19 Jun</c:v>
              </c:pt>
              <c:pt idx="1">
                <c:v>26 Jun</c:v>
              </c:pt>
              <c:pt idx="2">
                <c:v>3 Jul</c:v>
              </c:pt>
              <c:pt idx="3">
                <c:v>10 Jul</c:v>
              </c:pt>
              <c:pt idx="4">
                <c:v>17 Jul</c:v>
              </c:pt>
              <c:pt idx="5">
                <c:v>24 Jul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98.86799490169328</c:v>
              </c:pt>
              <c:pt idx="2">
                <c:v>99.32340484797383</c:v>
              </c:pt>
              <c:pt idx="3">
                <c:v>98.78365321040138</c:v>
              </c:pt>
              <c:pt idx="4">
                <c:v>97.74353039410408</c:v>
              </c:pt>
              <c:pt idx="5">
                <c:v>96.2322372650347</c:v>
              </c:pt>
            </c:numLit>
          </c:val>
        </c:ser>
        <c:ser>
          <c:idx val="1"/>
          <c:order val="1"/>
          <c:tx>
            <c:v>USD/THB (19 Jun=100)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19 Jun</c:v>
              </c:pt>
              <c:pt idx="1">
                <c:v>26 Jun</c:v>
              </c:pt>
              <c:pt idx="2">
                <c:v>3 Jul</c:v>
              </c:pt>
              <c:pt idx="3">
                <c:v>10 Jul</c:v>
              </c:pt>
              <c:pt idx="4">
                <c:v>17 Jul</c:v>
              </c:pt>
              <c:pt idx="5">
                <c:v>24 Jul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101.6919752898573</c:v>
              </c:pt>
              <c:pt idx="2">
                <c:v>100.92510879157666</c:v>
              </c:pt>
              <c:pt idx="3">
                <c:v>101.3907063083899</c:v>
              </c:pt>
              <c:pt idx="4">
                <c:v>102.27016828459267</c:v>
              </c:pt>
              <c:pt idx="5">
                <c:v>102.83010255317855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4"/>
          <c:min val="9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6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6m SOFR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Jan-26</c:v>
              </c:pt>
              <c:pt idx="1">
                <c:v>Apr-26</c:v>
              </c:pt>
              <c:pt idx="2">
                <c:v>Jun-26</c:v>
              </c:pt>
              <c:pt idx="3">
                <c:v>Jul-26</c:v>
              </c:pt>
            </c:strLit>
          </c:cat>
          <c:val>
            <c:numLit>
              <c:formatCode>General</c:formatCode>
              <c:ptCount val="4"/>
              <c:pt idx="0">
                <c:v>3.61597</c:v>
              </c:pt>
              <c:pt idx="1">
                <c:v>3.68419</c:v>
              </c:pt>
              <c:pt idx="2">
                <c:v>3.8494</c:v>
              </c:pt>
              <c:pt idx="3">
                <c:v>3.87762</c:v>
              </c:pt>
            </c:numLit>
          </c:val>
        </c:ser>
        <c:ser>
          <c:idx val="1"/>
          <c:order val="1"/>
          <c:tx>
            <c:v>6m THOR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4"/>
              <c:pt idx="0">
                <c:v>Jan-26</c:v>
              </c:pt>
              <c:pt idx="1">
                <c:v>Apr-26</c:v>
              </c:pt>
              <c:pt idx="2">
                <c:v>Jun-26</c:v>
              </c:pt>
              <c:pt idx="3">
                <c:v>Jul-26</c:v>
              </c:pt>
            </c:strLit>
          </c:cat>
          <c:val>
            <c:numLit>
              <c:formatCode>General</c:formatCode>
              <c:ptCount val="4"/>
              <c:pt idx="0">
                <c:v>1.45862</c:v>
              </c:pt>
              <c:pt idx="1">
                <c:v>1.22521</c:v>
              </c:pt>
              <c:pt idx="2">
                <c:v>1.07474</c:v>
              </c:pt>
              <c:pt idx="3">
                <c:v>1.03165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4.3"/>
          <c:min val="0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7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DXY (30 Jul=100)</c:v>
          </c:tx>
          <c:spPr>
            <a:ln xmlns:a="http://schemas.openxmlformats.org/drawingml/2006/main" w="28575">
              <a:solidFill>
                <a:srgbClr val="8B939E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6"/>
              <c:pt idx="0">
                <c:v>30 Jul</c:v>
              </c:pt>
              <c:pt idx="1">
                <c:v>31 Jul</c:v>
              </c:pt>
              <c:pt idx="2">
                <c:v>3 Aug</c:v>
              </c:pt>
              <c:pt idx="3">
                <c:v>4 Aug</c:v>
              </c:pt>
              <c:pt idx="4">
                <c:v>5 Aug</c:v>
              </c:pt>
              <c:pt idx="5">
                <c:v>6 Aug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100.0500700981374</c:v>
              </c:pt>
              <c:pt idx="2">
                <c:v>100.04005607850992</c:v>
              </c:pt>
              <c:pt idx="3">
                <c:v>100</c:v>
              </c:pt>
              <c:pt idx="4">
                <c:v>99.8197476467054</c:v>
              </c:pt>
              <c:pt idx="5">
                <c:v>99.88984578409774</c:v>
              </c:pt>
            </c:numLit>
          </c:val>
        </c:ser>
        <c:ser>
          <c:idx val="1"/>
          <c:order val="1"/>
          <c:tx>
            <c:v>USD/THB (30 Jul=100)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</c:marker>
          <c:cat>
            <c:strLit>
              <c:ptCount val="6"/>
              <c:pt idx="0">
                <c:v>30 Jul</c:v>
              </c:pt>
              <c:pt idx="1">
                <c:v>31 Jul</c:v>
              </c:pt>
              <c:pt idx="2">
                <c:v>3 Aug</c:v>
              </c:pt>
              <c:pt idx="3">
                <c:v>4 Aug</c:v>
              </c:pt>
              <c:pt idx="4">
                <c:v>5 Aug</c:v>
              </c:pt>
              <c:pt idx="5">
                <c:v>6 Aug</c:v>
              </c:pt>
            </c:strLit>
          </c:cat>
          <c:val>
            <c:numLit>
              <c:formatCode>General</c:formatCode>
              <c:ptCount val="6"/>
              <c:pt idx="0">
                <c:v>100</c:v>
              </c:pt>
              <c:pt idx="1">
                <c:v>99.51752687851804</c:v>
              </c:pt>
              <c:pt idx="2">
                <c:v>99.26437740119725</c:v>
              </c:pt>
              <c:pt idx="3">
                <c:v>99.52050510766298</c:v>
              </c:pt>
              <c:pt idx="4">
                <c:v>98.8712511540638</c:v>
              </c:pt>
              <c:pt idx="5">
                <c:v>98.47216844864045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.4"/>
          <c:min val="98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A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DB210A-142A-45B0-8637-9757F326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TACTICAL FX RESEARCH • INDEPENDENT SYNTHESIS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2D125-4D94-455C-B9BA-DA0A34A7A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Short USD/THB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6778FD-76BC-4A27-98A4-0EEDEC60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5334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Trade the Q2→Q3 external-balance inflection — not a Thai growth boom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73517-C90B-4DB8-B9E5-3B0DF40E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 data-backed stress test of Nomura's 31 Jul 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E8027-4C86-42ED-8570-E5DA3B99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August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4F0CE7-368B-42FC-843C-8AD19FE7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34025" cy="5600700"/>
          </a:xfrm>
          <a:prstGeom xmlns:a="http://schemas.openxmlformats.org/drawingml/2006/main" prst="roundRect">
            <a:avLst>
              <a:gd name="adj" fmla="val 13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C639B-E4C5-4E2C-94D3-AB82C1D3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14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USD/THB since 30 Jul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591300" y="1238250"/>
          <a:ext xmlns:a="http://schemas.openxmlformats.org/drawingml/2006/main" cx="4762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a19bc027194d0b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5ABF77-FA0F-4EE9-965D-9A05E2015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72000"/>
            <a:ext cx="1409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33.06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5B8705-293D-42E9-B124-09124F8B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067300"/>
            <a:ext cx="1409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6 Aug spot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E00D7-4B96-4843-B8CC-85E69E9F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720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32.00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B4B36-AA08-4CA9-B1CE-9AB8A23ED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0673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end-Sep 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0296D-8E0E-4C61-A18A-F61FFE2E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29175"/>
            <a:ext cx="9048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03500-AD75-4F03-ADAF-CCFB84A2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72000"/>
            <a:ext cx="428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162FE5-EF7C-43EC-86EA-A0F76416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Anchor: Nomura 31 Jul 2026 • Stress-tested with BoT / Treasury / Krungsri / Fed / Reuters data</a:t>
            </a:r>
          </a:p>
        </p:txBody>
      </p:sp>
    </p:spTree>
    <p:extLst>
      <p:ext uri="{BB962C8B-B14F-4D97-AF65-F5344CB8AC3E}">
        <p14:creationId xmlns:p14="http://schemas.microsoft.com/office/powerpoint/2010/main" val="1145880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9A5388-7464-480A-A20B-6A7886C3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TRADE SHEET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40A92-F244-4585-B19C-014A2489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46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trade is attractive on a rebound; current spot is already less forgiving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29DB9-02EE-4DD1-8713-077F1C55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F32C5-B28B-4E77-AA97-4E227FBE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Nomura's level framework still works — but the baht has already rallied ~1% from end-July, so entry quality now matters.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620D5A-C75F-4A7D-8110-AE266B60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EC9531-58DC-4B60-AC37-4F21F399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6 AUG SPOT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F97F9D-8B08-4FA6-830E-ED548BBB7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33.06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18AA8-4179-4C49-98D3-D29C4A0B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~3.22% spot return to 32.00; ~2.53% adverse move to 33.90.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031916-5EFB-4986-BF97-C00C03BF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8F49E-3136-447F-8E4E-CCD16E36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47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PREFERRED ENTRY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B4ED-B3EC-4D09-9E93-D5CE7F2E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00325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33.15–33.30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B2113C-A4D5-474A-AA8E-7447C544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95650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Midpoint 33.225 gives ~3.69% spot upside to target vs ~2.03% risk to stop.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85B8D8-C045-4D1B-B68F-E6FCC33A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623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EAF6F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FF1C30-143E-4B57-AC7A-9C6C168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479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rPr>
              <a:t>TARGET / STOP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158759-7FE3-4523-B5BB-65CE6CEFF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00325"/>
            <a:ext cx="3181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32.00 / 33.90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41F98A-9BC9-4A28-AB02-FD93E1B3B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95650"/>
            <a:ext cx="31813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Target by end-Sep; retain Nomura's hard stop while adding macro exit rules.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DA9BF7-CBAD-4865-AC4A-18F630B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13919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4F9B1-31B8-42D3-9F12-853FFFDA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PAYOFF DISCIPLINE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329582-9BDE-4C80-B7F7-43626C33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At 33.225 midpoint entry: ~1.82× spot reward/risk. Simple rate-gap accrual to 30 Sep costs ~43bp, taking an illustrative carry-adjusted target return to ~3.26%. Actual forward points/basis can differ.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F42327-23E3-488C-AD2E-7BD23EB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Nomura 31 Jul; 6 Aug market spot; Krungsri/MUFG rates. Calculations shown separately from executable forwards.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670F5-7CD6-42AC-8B7A-DC20750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16287811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7BA7C-FCC3-41F3-B4DF-197A4B88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THESIS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715D3-7ED7-4575-8959-D5534D1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high-conviction version is a flow inflection + USD repricing trade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2B3C38-AE27-4534-B9A2-67CA826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A877E-24C9-41A3-B1CD-5972824B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0015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Separate the core state variables from confirmers and from narratives that should not be underwriting the position.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A0F27-E3F6-4726-A4F4-170E735F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4102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547D8-36D2-4880-803E-964DD1E3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CORE — must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F5405F-994F-46D2-A860-46FE0BCE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B6FE7-2403-4741-B0E1-1E0E3E6A2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account: Q2's energy-led deficit must reverse toward H2 surplus.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9C086-2455-4ED9-96F4-A65BFFC0E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DEB325-0F56-4A7B-9386-3301934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Tourism: weekly arrivals must confirm that June was a trough, not a new baseline.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BDABD-1142-4B7F-9C05-C2322DE7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744E7-4695-48B4-99F3-368CA64F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05275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USD leg: U.S. data must stop validating an ever-more-hawkish Fed path.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B314F5-91F5-45A2-8936-360740B0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244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2914B-5ECE-415C-BCE5-33354752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4552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Oil: cheaper energy must keep removing pressure from Thailand's import bill.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0A278-22B6-432A-A6D9-48DAAFF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66900"/>
            <a:ext cx="56578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1F5DD-4F8B-49B7-81EC-2CB5B6CF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CONFIRMERS — helpful, not sufficient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69089-DD8F-4B00-997B-72168E6A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39E"/>
          </a:solidFill>
          <a:ln xmlns:a="http://schemas.openxmlformats.org/drawingml/2006/main" w="9525">
            <a:solidFill>
              <a:srgbClr val="8B939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492ED5-7E44-4063-9D69-A3DB2B90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00325"/>
            <a:ext cx="4743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July equity inflows: strong impulse, but fragile and risk-sensitive.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0C62F-D22B-4BA2-9A1F-BF0291DD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242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939E"/>
          </a:solidFill>
          <a:ln xmlns:a="http://schemas.openxmlformats.org/drawingml/2006/main" w="9525">
            <a:solidFill>
              <a:srgbClr val="8B939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2ADF50-E8FF-436C-9171-397F3ADD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47434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BoT reserve smoothing: plausible near-term floor, not a structural long-THB policy put.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418943-B6E4-4DD2-A610-AE1524CB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86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DO NOT UNDERWRITE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44CAD1-9963-4A2F-B709-FD345D89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0100"/>
            <a:ext cx="495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Thai growth boom — growth is modest.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Positive carry — the 6m gap is ~−285bp.</a:t>
            </a:r>
          </a:p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• Permanent BoT support — 2025 policy actually resisted appreciation.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EABE8D-4D60-48EB-84B8-7406D3B0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Synthesis: Nomura; BoT MPR Q2 2026; Krungsri/MUFG; U.S. Treasury July 2026 FX Report.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304344-A45F-40B1-BB8D-AE922BECF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4144230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7B3FEB-AE1E-4D22-8FA0-0A32512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CORE DRIVER 1 • EXTERNAL BALANCE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07340F-E62C-442A-AC02-3AC073D6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Current account: the trade needs Q2's shock to reverse in Q3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0CC47-6CC5-45BA-B1FD-DB8353421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17F91-3FC7-4DC0-8FF2-B005AACD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Thailand's Q2 current-account deficit was unusually large. BoT itself expects H2 improvement as energy imports normalize; Nomura sees Q3 back in surplus.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D4B9D-8AF9-44C8-B725-807A0934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USD bn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00050" y="2152650"/>
          <a:ext xmlns:a="http://schemas.openxmlformats.org/drawingml/2006/main" cx="65532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445c555f3db4ff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DFDAB-D617-443F-B6AA-8E60AAA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9775"/>
            <a:ext cx="44577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21D382-9126-4647-9548-A37982903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860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−$17.7bn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71ED4C-48D8-4201-B10E-10CFFE51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384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Q2 actual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FC3C1-8228-451E-8122-8A733322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766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+$1.1bn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C72F32-B995-4545-AC1D-4DBB7AE2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290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Nomura Q3 forecast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BA3DC-6261-4EF0-AAC7-5971F993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June deficit narrowed to −$3.47bn from April/May extremes. BoT's Q2 MPR explicitly links the deficit to temporary energy/import effects and expects H2 normalization.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232BFE-F03D-4515-81B3-789ADDD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Bank of Thailand monthly BOP &amp; Q2 2026 MPR; Nomura 31 Jul 2026. Q3F is a forecast, not an actual.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97A894-06F5-4EC8-96BD-1F89CE47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915420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6E7C7-4710-4C92-94B8-B88F0260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CORE DRIVER 2 • SERVICES RECEIPTS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E3C3-99BF-44F6-BE35-A70B9FF2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19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Tourism: June looks like a trough, but the July signal still needs confirmation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950BD-878F-4842-8510-333D5E95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3271D-F9C8-4E9B-8205-0C375FD63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Monthly arrivals weakened into June; Nomura's 584k arrivals in the week ended 25 Jul point to a better run-rate. Treat that conversion as a pulse check, not a forecast.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7000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b8a6fcdad74868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D1FBC-65B5-4512-B547-18DA8C46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40576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FD0F6-E105-487E-A304-485E0CA9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33625"/>
            <a:ext cx="314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584k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1ABB3-754E-4B95-B9C9-002EE520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956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week ended 25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92F6BE-8D69-4F79-AA92-ED9EE752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04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≈2.54m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0B188-6910-47BC-BC3C-275506F2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1477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illustrative monthly-equivalent run-rate</a:t>
            </a:r>
          </a:p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(584k × 4.345 weeks)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BE8A40-B4B4-4815-A0E7-598CF307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05350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BoT 2026 outlook: 33.0m arrivals; spending per trip ~THB45.8k vs THB41.7k in 2025. The trade needs sequential receipts recovery more than headline visitor growth.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3C35E-B27A-48F7-A59F-0995D2E7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BoT tourism indicators / Q2 MPR; Nomura 31 Jul. *Illustrative run-rate, not a monthly forecast.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656E3-6F3E-4931-8897-67DFE639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20398529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D72FD2-7E1E-4E45-B374-669F9FBA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CONFIRMER • FOREIGN 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72A0-1645-4E5F-9FCB-8B8FF481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Portfolio flows: July's THB support came from equities, not carry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34AEC-1C7F-4B64-9072-F1DCEB71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0CB41-61DB-4612-A785-960F6C651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Foreign equity demand flipped from a weak 2025 into a strong July. Bonds did the opposite in July — useful evidence that this is a risk-flow impulse, not a rate-differential story.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7096125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3e2e2baf9742b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EED26-1FD0-41AF-B772-4AF987ED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47875"/>
            <a:ext cx="3962400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851FB-8F4E-4A07-843C-8635E23B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+THB48.8bn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FC31B-0A49-4D1E-8FD1-33A3A848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670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July foreign equity buying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A51BC4-9619-413D-8732-6E88EC9B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−THB11.0bn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979D6A-FB17-4008-9607-CCC5CE6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July govt-bond 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1DEB-8D9D-4611-A166-220C46A6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76750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Implication: supportive for spot, but fragile. A regional risk-off episode can reverse equity flows much faster than the current account can adjust.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23E75-DC0F-44C9-9A2D-DE01EB3F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Krungsri/MUFG THB Thermometer, Aug 2026. Period lengths intentionally differ.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DDDF4-52D6-4A07-B9BE-D4584C92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20158214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4C828D-D3D4-4E55-8390-F18E2E0B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POLICY SIGNAL • HANDLE WITH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0F1A17-33C6-4192-B2D6-90F99589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BoT: recent reserve draw is a tactical clue — not a structural THB backstop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A10AE-F5BF-43D6-A6B3-043E0008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B4AFF-6CF7-4AE1-8BB8-A6C064D2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Official reserves fell while USD/THB rose into 24 Jul. That is consistent with smoothing, but raw reserve changes include valuation and other balance-sheet effects.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6858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3b14b1bb27542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5E977-825F-428C-9DB0-31BCAAC6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47875"/>
            <a:ext cx="417195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22ED4-DD23-4D23-AC75-9B9058AE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0505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−$3.69bn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51C4B-F71E-401C-B04D-18439AC0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raw FX-reserve change, 17→24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0B79D-105B-4D65-9859-347FE3B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Nomura estimated ≈$3.3bn USD reserve sales (spot + forwards) in the same week.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E1D635-7723-4DCB-8C0F-1988EF8D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4171950" cy="1762125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FAEE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E1F4C-EBB6-42C5-B055-3060573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576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COUNTER-EVIDENCE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EEF66-626E-497A-B524-2097BCEE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400550"/>
            <a:ext cx="33813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U.S. Treasury reports BoT bought ≈$10bn of FX in 2025 to smooth baht appreciation. So recent support, if present, is volatility management — not a one-way policy 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A840E7-EDA5-401B-914C-5F4862DF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BoT weekly reserves; Nomura intervention estimate; U.S. Treasury July 2026 FX Report.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09413-F96B-4A78-BA1E-8DF087EA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10286588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6BA41C-7AC3-435E-922D-ECCD8FF4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STRUCTURAL HEADWIND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256C6-E5EF-4923-BAF2-FC94AE9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09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Carry is the trade's main structural cost: the 6m gap widened to ~−285bp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385A0-3453-438E-9354-FB9B551D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59DA0-CDE1-44EC-B942-697C6CF1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A long-THB position pays a meaningful rate disadvantage. The thesis therefore needs a fast enough spot move; time is not free.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" y="2000250"/>
          <a:ext xmlns:a="http://schemas.openxmlformats.org/drawingml/2006/main" cx="700087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23aba5d873c494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2BD2-3736-48F8-A34F-819B2F5E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4057650" cy="3667125"/>
          </a:xfrm>
          <a:prstGeom xmlns:a="http://schemas.openxmlformats.org/drawingml/2006/main" prst="roundRect">
            <a:avLst>
              <a:gd name="adj" fmla="val 2078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C3FF7-9B5A-49DA-AD1A-F1804DB6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0505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−2.846pp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736A9-CA6A-4EFF-876B-1184FCF4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575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6m THOR − 6m SOFR, Jul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B8E670-A97A-4832-8F44-4C79906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099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≈−43bp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EC03C-79F5-4673-8771-CA4F9D9B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243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simple accrual, 6 Aug→30 Sep (~55d)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0A8B6-C032-436C-ABC4-DEF3AC30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33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At 33.225 entry, ~3.69% spot return to 32.00 becomes ~3.26% after this simple carry proxy. Actual deliverable forwards and basis can differ.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CF4C47-3FFA-4352-80E0-8DC727AD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Krungsri/MUFG THB Thermometer, Aug 2026; simple annualized rate-gap accrual.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FEAC8-5B57-4C64-AC40-A9E519EA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15309883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FA518-B02A-4E8C-AD75-76820D20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CORE DRIVER 3 • BROAD USD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4228DF-691D-4A6F-8A96-E1488E8AD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USD leg is a repricing asymmetry — not a dovish-Fed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5D6A8-CC9A-40DE-8CAD-05E5C5C3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C93B3-7F91-4004-A773-BF55C31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The Fed held at 3.50–3.75% on 29 Jul by 9–3; all three dissents wanted a 25bp hike. Yet USD/THB has fallen faster than DXY since the meeting.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00050" y="2047875"/>
          <a:ext xmlns:a="http://schemas.openxmlformats.org/drawingml/2006/main" cx="7000875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53130d5b624586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F98BD-BCF7-498D-ACB3-670D4162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47875"/>
            <a:ext cx="40576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8BDA9-991E-416E-81FD-E435A0B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−1.5%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71716F-A570-48D9-9B7A-40E3D8B0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8194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USD/THB move, 30 Jul→6 Aug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A79E1-1075-4641-95AE-FA61122F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432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25BB6-9AA2-4DE5-A4AE-176606EA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766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7 Aug: U.S. July NFP; Reuters consensus ~80k, unemployment 4.2%.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F76E85-399C-41A2-97EA-045A949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671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1D4D96-20D8-4D15-97D9-B8381292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009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12 Aug: CPI — upside surprise is the cleanest near-term USD/THB bear risk.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4156B6-AD22-4FEA-BC13-66922866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91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9BD048-19A3-4997-93FE-54B8CB5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24400"/>
            <a:ext cx="30099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Sep hike odds were only mid-50s on 6 Aug: scope remains for both dovish and hawkish repricing.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F8CBC0-CB13-4C99-B4F6-FC3FED150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Federal Reserve; CME FedWatch / Reuters 6 Aug; BoT FX; Investing.com DXY; 6 Aug market spot.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79F30-BC69-43F1-9111-B57E33E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8958276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4349D-566E-49C4-A2CF-8EED5703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VALUATION &amp; TARGET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408E9-8719-4359-9AFD-EE737B53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32.0 is aggressive for September — but not disconnected from published ranges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563EB-7179-471D-88DC-943E07E0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B8FCAD-7012-4FE7-82EF-9F32A3B0C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The target is best viewed as an early arrival at levels other forecasters see later, not as a deep-value 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A47A7-A0DA-4F02-9E9E-EB85D2D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7188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6D99E-13FF-4FF4-898F-B9FBD71CC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638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32.0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78A13D-2AAE-4245-855D-BC868E2C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47EA8-8B93-427A-8361-8936482E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32.5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2CA7DF-81A5-4F17-821D-DBDCF59CF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313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A650C-A825-4EBF-AE4D-39B778EA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3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33.0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E74F1-9466-41AC-A311-2FCA94F8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4FD24F-9D1B-403B-8F3D-6A3599B9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33.5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A07A29-FAA6-4BCD-83AE-8EFBAF50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8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9F4E7E-7665-40D5-B99E-793FB627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5888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34.0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BD02A-9677-46FF-9631-9361A4D1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57400"/>
            <a:ext cx="9525" cy="3114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A"/>
          </a:solidFill>
          <a:ln xmlns:a="http://schemas.openxmlformats.org/drawingml/2006/main" w="9525">
            <a:solidFill>
              <a:srgbClr val="E3E6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F1D9F7-9113-45E3-808E-4E529882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2578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34.5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766DA-59F5-428C-A167-198EFC80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Krungsri Q3 range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8961F1-9DA8-431B-9D0B-EECD667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281" y="2295525"/>
            <a:ext cx="3786187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939E"/>
          </a:solidFill>
          <a:ln xmlns:a="http://schemas.openxmlformats.org/drawingml/2006/main" w="9525">
            <a:solidFill>
              <a:srgbClr val="8B93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550E2-BD08-450C-ABFB-0AA6FDEA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0281" y="2428875"/>
            <a:ext cx="37861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32.75–34.25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9A190-1EDE-4D3B-A63C-F231F5BA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Krungsri Q4 range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5FFB56-162F-4826-BDF2-24F98645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19" y="2857500"/>
            <a:ext cx="3786187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939E"/>
          </a:solidFill>
          <a:ln xmlns:a="http://schemas.openxmlformats.org/drawingml/2006/main" w="9525">
            <a:solidFill>
              <a:srgbClr val="8B939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9FDB0-FD2E-4F26-87DC-055484CF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219" y="2990850"/>
            <a:ext cx="37861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32.25–33.75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B2F700-1563-4ABE-BA1E-C2B7673C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1470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Nomura Q3F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CD50D4-D4B0-418F-A791-34CE68E7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8137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6D9230-BB82-4385-88DB-82BCE6242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5718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32.9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838719-6A59-488C-914D-84433AC3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Nomura Q4F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234207-3B8F-420C-87B6-F8895AFE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9433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7B2B60-E191-4346-8F29-5149C73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33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32.3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E6CE19B-4CCC-4668-BA3B-0C64EA75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Trade 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0E78A-7868-4490-8C97-32839977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8" y="4505325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1AB037-8486-4B47-BBC7-24D3A40F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9063" y="46958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38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32.0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61BBD7-06B3-4C1A-9C39-186D6C6FB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2857" y="1952625"/>
            <a:ext cx="190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7683916-91DA-4A59-BF74-58D256C3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532" y="1695450"/>
            <a:ext cx="1390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E61385-9B2E-40D6-BE94-622E0A3E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782" y="17526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Aug spot 33.06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A253E-4929-464E-AE14-4A27ECA5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0"/>
            <a:ext cx="113919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68D25B-DAC3-4904-979F-B6446450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1001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Treasury: 2025 THB REER was around its 10y average; it cites the IMF's 2025 assessment of ~2.8% REER undervaluation. This argues against an obvious valuation ceiling, but does not translate mechanically into spot.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0E375A-8398-4B47-A050-1A6957B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Source: Nomura 31 Jul; Krungsri/MUFG Aug 2026; U.S. Treasury July 2026 FX Report.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B38D0D-2311-4099-8722-00377417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12916473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AA068E-DEF9-4F8C-B7C9-90C4B64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RISK FRAMEWORK • NO ASSIGNED PROBABILITIES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4AB58-22D6-405A-9990-EE0CDE8D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46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Scenario map: let observable states — not conviction — determine the exit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62A07-C961-4BCC-840C-0053B3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3580F-A1C1-4C64-A152-EE7623E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These are condition-based zones, not statistical forecasts. The hard stop remains 33.90; macro deterioration should trigger reassessment earlier.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A6F248-1B8D-4D29-BACF-22F763A1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3562350" cy="36766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6F1"/>
          </a:solidFill>
          <a:ln xmlns:a="http://schemas.openxmlformats.org/drawingml/2006/main" w="9525">
            <a:solidFill>
              <a:srgbClr val="EAF6F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1AC263-C080-400D-B9E9-B8AABBFA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rPr>
              <a:t>BULL THB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7C1696-F989-41DC-95AB-5F2540BE9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717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31.6–32.0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05F06-5A9E-462E-AA42-C0284F03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Oil &lt;~$75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Soft U.S. labor/CPI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Thai CA flips positive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Equity inflows persist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C8602-2E5C-41E4-B072-AACB3858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9B73"/>
          </a:solidFill>
          <a:ln xmlns:a="http://schemas.openxmlformats.org/drawingml/2006/main" w="9525">
            <a:solidFill>
              <a:srgbClr val="2D9B7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1E972-8035-47F0-A344-4E6E6FC2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D9B73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4FF762-F803-417E-BCE9-B41334A6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Take profit into 32.0; trail residual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CD4857-0947-4BC3-90E1-B0F94707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52625"/>
            <a:ext cx="3562350" cy="36766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6121E-7C9D-4D80-91AA-A30ACDB4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1907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F0EE6-BC3D-4804-8B67-E28E91F9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5717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32.0–32.5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8519B-6D74-4FBE-A2A4-85D0DAEF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209925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Q3 external balance improves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Fed pricing cools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Tourism normalizes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Oil stays contained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B7359-9FE4-49B7-BAEE-9476F8A2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6863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FC628F-A35A-4E4D-9012-24AD643D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876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CF8B-06C8-432B-8DEA-65C6E24D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51435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Hold tactical short USD; respect horizon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35505-FB0F-460A-938D-D9F5F517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3562350" cy="36766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FAEE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AEE109-8F01-4DD5-AE88-4DE2FF56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BEAR / INVALIDATION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D86B5-4325-4ABB-BAA2-E5F3A672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33.9–34.3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2B36DF-FCED-482D-AB0C-D8242A80E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9925"/>
            <a:ext cx="3067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Oil &gt;~$95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Hot CPI / NFP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Fed hike reprices higher</a:t>
            </a:r>
          </a:p>
          <a:p xmlns:a="http://schemas.openxmlformats.org/drawingml/2006/main">
            <a:pPr algn="l">
              <a:def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CA / outflows deteriorate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61A75-2363-4BC0-A571-4F3D269E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86300"/>
            <a:ext cx="3067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C5C"/>
          </a:solidFill>
          <a:ln xmlns:a="http://schemas.openxmlformats.org/drawingml/2006/main" w="9525">
            <a:solidFill>
              <a:srgbClr val="D95C5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84865C-1B07-4076-8B4A-46F0E07C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21548A-87BD-4F2D-90FF-EECC7093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3067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38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Exit at 33.90; rebuild only after reset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F5834-42FC-4501-8B44-9D254A4E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744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Scenario ranges are analytical judgment bands. Inputs: Nomura thesis; BoT external balance; Fed / oil / flow stress tests.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768DB2-39C2-40D0-AA9C-CDA6C28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06 AUG 2026</a:t>
            </a:r>
          </a:p>
        </p:txBody>
      </p:sp>
    </p:spTree>
    <p:extLst>
      <p:ext uri="{BB962C8B-B14F-4D97-AF65-F5344CB8AC3E}">
        <p14:creationId xmlns:p14="http://schemas.microsoft.com/office/powerpoint/2010/main" val="21195325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FDD436-7D62-403C-9B92-B5CF3711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CATALYST CALENDAR • 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D3ACD4-1BC5-4EE5-9F75-677307FA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"/>
            <a:ext cx="11391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657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Execution: wait for the right level, then let six catalysts decide the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FEFFF-121D-4D2B-9E6D-40F8E692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B8EE90-AB9F-489F-A37E-6458E2BC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B442DD-AF05-4820-95B8-72EFAF7A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95425"/>
            <a:ext cx="1089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Preferred entry 33.15–33.30  |  Target 32.00 by end-Sep  |  Hard stop 33.90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14A1C-B99C-49EA-A139-1142A597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6D855B-E060-41E3-B033-A424EE5B1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07 AUG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83D31E-48A4-421E-BCB0-07A2149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431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U.S. JUL NFP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F74E5-8AE4-4A76-948E-428E813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6702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Labor miss = clean USD downside catalyst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A12A-9DC3-4127-BDED-95F11F57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400300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A237A-1686-4EA2-8664-B7096939F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543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12 AUG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69744-5E34-4FBB-ACC3-09603DF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431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U.S. JUL CPI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94805-2525-47D4-8FA5-FF3E426D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86702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Upside core = cleanest USD/THB bear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A0317-9BF5-4E2C-A422-99625744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00300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EAF5F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E9429C-0E58-4476-96BB-CFD16143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4317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26 AUG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51E724-0916-4709-B5DA-7A535F4F2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4317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BoT MPC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C83AE8-186B-4BF2-9ECE-59BC7A1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67025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Read FX / energy language; rate hold expected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A6E8CA-A0FF-49DA-9D67-59F5BB25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24275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B77C83-0124-4272-ADC9-5A4BB04A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27–29 AUG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CF25F-1933-469F-811F-61FFC507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8671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JACKSON HOLE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432CED-90EF-44C9-AD27-80870967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910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Fed reaction function / credibility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E5AB09-CA22-4B09-A6C5-145739EC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724275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F8FCD-75F7-479E-B2A9-AC081AA3F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67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04 / 11 SEP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4374C8-CA54-4294-9907-8F895B8F0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8671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NFP / CPI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D34F6-12B8-4663-9FBE-4FF22181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Final major data before FOMC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8A9C04-78BE-468C-A72D-B66C5A5E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24275"/>
            <a:ext cx="35623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C03B4-592B-429F-9A65-21E8B8E0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67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15–16 SEP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7912D1-F02A-430C-8FFD-7A19CC36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867150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FOMC + SEP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7175CA-7508-43D3-8FA9-9EF3DAF8F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910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63" b="0" i="0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Core binary event before target horizon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D5DC8-7C71-4ACC-9C62-D48D08CEC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113919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AEEEE"/>
          </a:solidFill>
          <a:ln xmlns:a="http://schemas.openxmlformats.org/drawingml/2006/main" w="9525">
            <a:solidFill>
              <a:srgbClr val="FAEE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4CB384-6DD4-4707-B24D-B4AE6228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666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95C5C"/>
                </a:solidFill>
                <a:latin typeface="Helvetica Neue"/>
                <a:ea typeface="Helvetica Neue"/>
                <a:cs typeface="Helvetica Neue"/>
              </a:rPr>
              <a:t>EARLY MACRO EXIT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ECE8A3-A7A6-4311-91F4-7B5E2D24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53050"/>
            <a:ext cx="904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13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1" i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Cut / materially reduce before the price stop if 2 of 3 core variables break together: (1) oil re-spikes, (2) U.S. hike pricing accelerates, (3) Thai current-account / tourism data fail to improve.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B3FCAF-15F8-437B-A36A-976FF8126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96025"/>
            <a:ext cx="1076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 i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788" b="0" i="1">
                <a:solidFill>
                  <a:srgbClr val="5F6670"/>
                </a:solidFill>
                <a:latin typeface="Helvetica Neue"/>
                <a:ea typeface="Helvetica Neue"/>
                <a:cs typeface="Helvetica Neue"/>
              </a:rPr>
              <a:t>Research synthesis for discussion / educational use; not individualized investment advice. Verify executable pricing, forward points, settlement and jurisdictional eligibility.</a:t>
            </a:r>
          </a:p>
        </p:txBody>
      </p:sp>
    </p:spTree>
    <p:extLst>
      <p:ext uri="{BB962C8B-B14F-4D97-AF65-F5344CB8AC3E}">
        <p14:creationId xmlns:p14="http://schemas.microsoft.com/office/powerpoint/2010/main" val="1793858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2026-08-06T13:02:49.8840000Z</dcterms:created>
  <dcterms:modified xsi:type="dcterms:W3CDTF">2026-08-06T13:02:49.8840000Z</dcterms:modified>
</coreProperties>
</file>